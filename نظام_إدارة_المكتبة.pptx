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9311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4572000" y="2367930"/>
            <a:ext cx="4572000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03461" y="628650"/>
            <a:ext cx="3382789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4A9EFF"/>
                </a:solidFill>
              </a:rPr>
              <a:t>نظام إدارة المكتبة</a:t>
            </a:r>
            <a:endParaRPr lang="en-US" sz="3294" dirty="0"/>
          </a:p>
        </p:txBody>
      </p:sp>
      <p:sp>
        <p:nvSpPr>
          <p:cNvPr id="5" name="Text 1"/>
          <p:cNvSpPr/>
          <p:nvPr/>
        </p:nvSpPr>
        <p:spPr>
          <a:xfrm>
            <a:off x="893304" y="1291568"/>
            <a:ext cx="33929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1" kern="0" dirty="0">
                <a:solidFill>
                  <a:srgbClr val="00D9FF"/>
                </a:solidFill>
              </a:rPr>
              <a:t>Library Management System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3571875" y="1832707"/>
            <a:ext cx="714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FFA726"/>
                </a:solidFill>
              </a:rPr>
              <a:t>المقرر:</a:t>
            </a:r>
            <a:endParaRPr lang="en-US" sz="784" dirty="0"/>
          </a:p>
        </p:txBody>
      </p:sp>
      <p:sp>
        <p:nvSpPr>
          <p:cNvPr id="7" name="Text 3"/>
          <p:cNvSpPr/>
          <p:nvPr/>
        </p:nvSpPr>
        <p:spPr>
          <a:xfrm>
            <a:off x="2735889" y="1832707"/>
            <a:ext cx="75026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8EDF2"/>
                </a:solidFill>
              </a:rPr>
              <a:t>البرمجة بلغة C#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3571875" y="2095574"/>
            <a:ext cx="714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FFA726"/>
                </a:solidFill>
              </a:rPr>
              <a:t>الفصل: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2249974" y="2095574"/>
            <a:ext cx="123617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8EDF2"/>
                </a:solidFill>
              </a:rPr>
              <a:t>السنة الثالثة - الفصل الأول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3571875" y="2358442"/>
            <a:ext cx="714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FFA726"/>
                </a:solidFill>
              </a:rPr>
              <a:t>النوع:</a:t>
            </a:r>
            <a:endParaRPr lang="en-US" sz="784" dirty="0"/>
          </a:p>
        </p:txBody>
      </p:sp>
      <p:sp>
        <p:nvSpPr>
          <p:cNvPr id="11" name="Text 7"/>
          <p:cNvSpPr/>
          <p:nvPr/>
        </p:nvSpPr>
        <p:spPr>
          <a:xfrm>
            <a:off x="1999106" y="2358442"/>
            <a:ext cx="14870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E8EDF2"/>
                </a:solidFill>
              </a:rPr>
              <a:t>Windows Forms Application</a:t>
            </a:r>
            <a:endParaRPr lang="en-US" sz="834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3021360"/>
            <a:ext cx="28575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64356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A9EFF"/>
                </a:solidFill>
              </a:rPr>
              <a:t>نظام مكتبي متكامل لحل تحديات الإدارة اليدوية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4045"/>
            <a:ext cx="8286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نظرة عامة على المشروع والأهداف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714875" y="1414463"/>
            <a:ext cx="4000500" cy="294680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A726"/>
                </a:solidFill>
              </a:rPr>
              <a:t>التحديات الحالية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8543925" y="1852017"/>
            <a:ext cx="171450" cy="17145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8543925" y="185201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32"/>
                </a:solidFill>
              </a:rPr>
              <a:t>1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714875" y="1852017"/>
            <a:ext cx="37433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8EDF2"/>
                </a:solidFill>
              </a:rPr>
              <a:t>صعوبة التتبع اليدوي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714875" y="2035969"/>
            <a:ext cx="37433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8C1"/>
                </a:solidFill>
              </a:rPr>
              <a:t>عدم القدرة على تتبع الكتب والأعضاء بكفاءة في الأنظمة التقليدية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8543925" y="2300288"/>
            <a:ext cx="171450" cy="17145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8543925" y="23002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32"/>
                </a:solidFill>
              </a:rPr>
              <a:t>2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714875" y="2300288"/>
            <a:ext cx="37433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8EDF2"/>
                </a:solidFill>
              </a:rPr>
              <a:t>الأخطاء البشرية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714875" y="2484239"/>
            <a:ext cx="37433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8C1"/>
                </a:solidFill>
              </a:rPr>
              <a:t>احتمالية حدوث أخطاء في تسجيل البيانات والعمليات الحسابية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8543925" y="2748558"/>
            <a:ext cx="171450" cy="17145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8543925" y="27485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32"/>
                </a:solidFill>
              </a:rPr>
              <a:t>3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714875" y="2748558"/>
            <a:ext cx="37433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8EDF2"/>
                </a:solidFill>
              </a:rPr>
              <a:t>نقص الرؤية الإحصائية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714875" y="2932509"/>
            <a:ext cx="37433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8C1"/>
                </a:solidFill>
              </a:rPr>
              <a:t>عدم توفر بيانات فورية حول حالة المكتبة والعمليات الجارية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28625" y="1414463"/>
            <a:ext cx="4000500" cy="294680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A726"/>
                </a:solidFill>
              </a:rPr>
              <a:t>الحل المقترح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4257675" y="1852017"/>
            <a:ext cx="171450" cy="17145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0" name="Text 17"/>
          <p:cNvSpPr/>
          <p:nvPr/>
        </p:nvSpPr>
        <p:spPr>
          <a:xfrm>
            <a:off x="4257675" y="185201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32"/>
                </a:solidFill>
              </a:rPr>
              <a:t>✓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28625" y="1852017"/>
            <a:ext cx="37433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8EDF2"/>
                </a:solidFill>
              </a:rPr>
              <a:t>أتمتة العمليات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28625" y="2035969"/>
            <a:ext cx="37433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8C1"/>
                </a:solidFill>
              </a:rPr>
              <a:t>نظام متكامل يدير جميع العمليات المكتبية بشكل آلي وآمن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4257675" y="2300288"/>
            <a:ext cx="171450" cy="17145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4" name="Text 21"/>
          <p:cNvSpPr/>
          <p:nvPr/>
        </p:nvSpPr>
        <p:spPr>
          <a:xfrm>
            <a:off x="4257675" y="23002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32"/>
                </a:solidFill>
              </a:rPr>
              <a:t>✓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428625" y="2300288"/>
            <a:ext cx="37433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8EDF2"/>
                </a:solidFill>
              </a:rPr>
              <a:t>قاعدة بيانات موثوقة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428625" y="2484239"/>
            <a:ext cx="37433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8C1"/>
                </a:solidFill>
              </a:rPr>
              <a:t>تخزين آمن ومنظم لجميع البيانات مع ضمان الدقة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4257675" y="2748558"/>
            <a:ext cx="171450" cy="17145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8" name="Text 25"/>
          <p:cNvSpPr/>
          <p:nvPr/>
        </p:nvSpPr>
        <p:spPr>
          <a:xfrm>
            <a:off x="4257675" y="27485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32"/>
                </a:solidFill>
              </a:rPr>
              <a:t>✓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28625" y="2748558"/>
            <a:ext cx="37433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8EDF2"/>
                </a:solidFill>
              </a:rPr>
              <a:t>لوحة تحكم إحصائية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28625" y="2932509"/>
            <a:ext cx="37433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B0B8C1"/>
                </a:solidFill>
              </a:rPr>
              <a:t>عرض فوري لملخص العمليات والإحصائيات المهمة</a:t>
            </a:r>
            <a:endParaRPr lang="en-US" sz="727" dirty="0"/>
          </a:p>
        </p:txBody>
      </p:sp>
      <p:sp>
        <p:nvSpPr>
          <p:cNvPr id="31" name="Shape 28"/>
          <p:cNvSpPr/>
          <p:nvPr/>
        </p:nvSpPr>
        <p:spPr>
          <a:xfrm>
            <a:off x="428625" y="3704034"/>
            <a:ext cx="8286750" cy="797226"/>
          </a:xfrm>
          <a:prstGeom prst="rect">
            <a:avLst/>
          </a:prstGeom>
          <a:solidFill>
            <a:srgbClr val="4A9EFF">
              <a:alpha val="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693944" y="3704034"/>
            <a:ext cx="21431" cy="79722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3" name="Shape 30"/>
          <p:cNvSpPr/>
          <p:nvPr/>
        </p:nvSpPr>
        <p:spPr>
          <a:xfrm>
            <a:off x="428625" y="3704034"/>
            <a:ext cx="21431" cy="79722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4" name="Shape 31"/>
          <p:cNvSpPr/>
          <p:nvPr/>
        </p:nvSpPr>
        <p:spPr>
          <a:xfrm>
            <a:off x="7143750" y="3846909"/>
            <a:ext cx="285750" cy="28575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5" name="Text 32"/>
          <p:cNvSpPr/>
          <p:nvPr/>
        </p:nvSpPr>
        <p:spPr>
          <a:xfrm>
            <a:off x="7143750" y="384690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📊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6784665" y="4218384"/>
            <a:ext cx="10039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E8EDF2"/>
                </a:solidFill>
              </a:rPr>
              <a:t>تحسين الكفاءة والإنتاجية</a:t>
            </a:r>
            <a:endParaRPr lang="en-US" sz="683" dirty="0"/>
          </a:p>
        </p:txBody>
      </p:sp>
      <p:sp>
        <p:nvSpPr>
          <p:cNvPr id="37" name="Shape 34"/>
          <p:cNvSpPr/>
          <p:nvPr/>
        </p:nvSpPr>
        <p:spPr>
          <a:xfrm>
            <a:off x="4429125" y="3846909"/>
            <a:ext cx="285750" cy="28575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8" name="Text 35"/>
          <p:cNvSpPr/>
          <p:nvPr/>
        </p:nvSpPr>
        <p:spPr>
          <a:xfrm>
            <a:off x="4429125" y="384690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🔒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4015960" y="4218384"/>
            <a:ext cx="111208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E8EDF2"/>
                </a:solidFill>
              </a:rPr>
              <a:t>ضمان أمان وسلامة البيانات</a:t>
            </a:r>
            <a:endParaRPr lang="en-US" sz="683" dirty="0"/>
          </a:p>
        </p:txBody>
      </p:sp>
      <p:sp>
        <p:nvSpPr>
          <p:cNvPr id="40" name="Shape 37"/>
          <p:cNvSpPr/>
          <p:nvPr/>
        </p:nvSpPr>
        <p:spPr>
          <a:xfrm>
            <a:off x="1714500" y="3846909"/>
            <a:ext cx="285750" cy="28575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1" name="Text 38"/>
          <p:cNvSpPr/>
          <p:nvPr/>
        </p:nvSpPr>
        <p:spPr>
          <a:xfrm>
            <a:off x="1714500" y="384690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⚡</a:t>
            </a:r>
            <a:endParaRPr lang="en-US" sz="784" dirty="0"/>
          </a:p>
        </p:txBody>
      </p:sp>
      <p:sp>
        <p:nvSpPr>
          <p:cNvPr id="42" name="Text 39"/>
          <p:cNvSpPr/>
          <p:nvPr/>
        </p:nvSpPr>
        <p:spPr>
          <a:xfrm>
            <a:off x="1379023" y="4218384"/>
            <a:ext cx="95670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E8EDF2"/>
                </a:solidFill>
              </a:rPr>
              <a:t>توفير رؤية فورية شاملة</a:t>
            </a:r>
            <a:endParaRPr lang="en-US" sz="6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92906"/>
            <a:ext cx="8429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A9EFF"/>
                </a:solidFill>
              </a:rPr>
              <a:t>إدارة الكتب والأعضاء بكفاءة عالية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357188" y="748308"/>
            <a:ext cx="8429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الميزات الأساسية للنظام - الجزء الأول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4625578" y="1085850"/>
            <a:ext cx="4161234" cy="2217772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625578" y="1085850"/>
            <a:ext cx="4161234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7" name="Shape 4"/>
          <p:cNvSpPr/>
          <p:nvPr/>
        </p:nvSpPr>
        <p:spPr>
          <a:xfrm>
            <a:off x="4625578" y="3296478"/>
            <a:ext cx="4161234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8" name="Shape 5"/>
          <p:cNvSpPr/>
          <p:nvPr/>
        </p:nvSpPr>
        <p:spPr>
          <a:xfrm>
            <a:off x="4625578" y="1085850"/>
            <a:ext cx="28575" cy="2217772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9" name="Text 6"/>
          <p:cNvSpPr/>
          <p:nvPr/>
        </p:nvSpPr>
        <p:spPr>
          <a:xfrm>
            <a:off x="4739878" y="1200150"/>
            <a:ext cx="3932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0D9FF"/>
                </a:solidFill>
              </a:rPr>
              <a:t>📚</a:t>
            </a:r>
            <a:endParaRPr lang="en-US" sz="1486" dirty="0"/>
          </a:p>
        </p:txBody>
      </p:sp>
      <p:sp>
        <p:nvSpPr>
          <p:cNvPr id="10" name="Text 7"/>
          <p:cNvSpPr/>
          <p:nvPr/>
        </p:nvSpPr>
        <p:spPr>
          <a:xfrm>
            <a:off x="4739878" y="1530548"/>
            <a:ext cx="39326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A9EFF"/>
                </a:solidFill>
              </a:rPr>
              <a:t>إدارة الكتب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739878" y="1782366"/>
            <a:ext cx="393263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نظام متكامل لإدارة مجموعة الكتب في المكتبة مع تتبع الكميات والتوفر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825603" y="2026676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إضافة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كتب جديدة مع البيانات الكاملة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4825603" y="2274922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تعديل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معلومات الكتب الموجودة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4825603" y="2523167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حذف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الكتب المتقادمة أو المفقودة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4825603" y="2771412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عرض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تفاصيل شاملة لكل كتاب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4825603" y="3019658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البحث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والفرز حسب معايير مختلفة</a:t>
            </a:r>
            <a:endParaRPr lang="en-US" sz="634" dirty="0"/>
          </a:p>
        </p:txBody>
      </p:sp>
      <p:sp>
        <p:nvSpPr>
          <p:cNvPr id="17" name="Shape 14"/>
          <p:cNvSpPr/>
          <p:nvPr/>
        </p:nvSpPr>
        <p:spPr>
          <a:xfrm>
            <a:off x="357188" y="1085850"/>
            <a:ext cx="4161234" cy="2217772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57188" y="1085850"/>
            <a:ext cx="4161234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19" name="Shape 16"/>
          <p:cNvSpPr/>
          <p:nvPr/>
        </p:nvSpPr>
        <p:spPr>
          <a:xfrm>
            <a:off x="357188" y="3296478"/>
            <a:ext cx="4161234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57188" y="1085850"/>
            <a:ext cx="28575" cy="2217772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1" name="Text 18"/>
          <p:cNvSpPr/>
          <p:nvPr/>
        </p:nvSpPr>
        <p:spPr>
          <a:xfrm>
            <a:off x="471488" y="1200150"/>
            <a:ext cx="393263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0D9FF"/>
                </a:solidFill>
              </a:rPr>
              <a:t>👥</a:t>
            </a:r>
            <a:endParaRPr lang="en-US" sz="1486" dirty="0"/>
          </a:p>
        </p:txBody>
      </p:sp>
      <p:sp>
        <p:nvSpPr>
          <p:cNvPr id="22" name="Text 19"/>
          <p:cNvSpPr/>
          <p:nvPr/>
        </p:nvSpPr>
        <p:spPr>
          <a:xfrm>
            <a:off x="471488" y="1530548"/>
            <a:ext cx="39326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A9EFF"/>
                </a:solidFill>
              </a:rPr>
              <a:t>إدارة الأعضاء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71488" y="1782366"/>
            <a:ext cx="393263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إدارة شاملة لبيانات أعضاء المكتبة وتسجيل معلوماتهم الشخصية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557213" y="2026676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تسجيل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أعضاء جدد في النظام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557213" y="2274922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تحديث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معلومات الاتصال والعنوان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557213" y="2523167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حذف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الأعضاء غير النشطين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557213" y="2771412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عرض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سجل العضو الكامل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557213" y="3019658"/>
            <a:ext cx="37183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تتبع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نشاط العضو والإعارات</a:t>
            </a:r>
            <a:endParaRPr lang="en-US" sz="634" dirty="0"/>
          </a:p>
        </p:txBody>
      </p:sp>
      <p:sp>
        <p:nvSpPr>
          <p:cNvPr id="29" name="Shape 26"/>
          <p:cNvSpPr/>
          <p:nvPr/>
        </p:nvSpPr>
        <p:spPr>
          <a:xfrm>
            <a:off x="357188" y="3360772"/>
            <a:ext cx="8429625" cy="698302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00187" y="3489359"/>
            <a:ext cx="10626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A726"/>
                </a:solidFill>
              </a:rPr>
              <a:t>5</a:t>
            </a:r>
            <a:endParaRPr lang="en-US" sz="1295" dirty="0"/>
          </a:p>
        </p:txBody>
      </p:sp>
      <p:sp>
        <p:nvSpPr>
          <p:cNvPr id="31" name="Text 28"/>
          <p:cNvSpPr/>
          <p:nvPr/>
        </p:nvSpPr>
        <p:spPr>
          <a:xfrm>
            <a:off x="7054593" y="3769751"/>
            <a:ext cx="5974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8EDF2"/>
                </a:solidFill>
              </a:rPr>
              <a:t>عمليات أساسية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4479131" y="3489359"/>
            <a:ext cx="1857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A726"/>
                </a:solidFill>
              </a:rPr>
              <a:t>∞</a:t>
            </a:r>
            <a:endParaRPr lang="en-US" sz="1295" dirty="0"/>
          </a:p>
        </p:txBody>
      </p:sp>
      <p:sp>
        <p:nvSpPr>
          <p:cNvPr id="33" name="Text 30"/>
          <p:cNvSpPr/>
          <p:nvPr/>
        </p:nvSpPr>
        <p:spPr>
          <a:xfrm>
            <a:off x="4185317" y="3789397"/>
            <a:ext cx="773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8EDF2"/>
                </a:solidFill>
              </a:rPr>
              <a:t>سجلات قابلة للتوسع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1547682" y="3489359"/>
            <a:ext cx="486082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FA726"/>
                </a:solidFill>
              </a:rPr>
              <a:t>100%</a:t>
            </a:r>
            <a:endParaRPr lang="en-US" sz="1295" dirty="0"/>
          </a:p>
        </p:txBody>
      </p:sp>
      <p:sp>
        <p:nvSpPr>
          <p:cNvPr id="35" name="Text 32"/>
          <p:cNvSpPr/>
          <p:nvPr/>
        </p:nvSpPr>
        <p:spPr>
          <a:xfrm>
            <a:off x="1570565" y="3769751"/>
            <a:ext cx="4402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8EDF2"/>
                </a:solidFill>
              </a:rPr>
              <a:t>دقة البيانات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92919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A9EFF"/>
                </a:solidFill>
              </a:rPr>
              <a:t>إدارة الإعارة والإرجاع ولوحة التحكم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62608"/>
            <a:ext cx="8286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الميزات الأساسية للنظام - الجزء الثاني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4643438" y="1271588"/>
            <a:ext cx="4071938" cy="2587823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643438" y="1271588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7" name="Shape 4"/>
          <p:cNvSpPr/>
          <p:nvPr/>
        </p:nvSpPr>
        <p:spPr>
          <a:xfrm>
            <a:off x="4643438" y="3852267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8" name="Shape 5"/>
          <p:cNvSpPr/>
          <p:nvPr/>
        </p:nvSpPr>
        <p:spPr>
          <a:xfrm>
            <a:off x="4643438" y="1271588"/>
            <a:ext cx="28575" cy="2587823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9" name="Text 6"/>
          <p:cNvSpPr/>
          <p:nvPr/>
        </p:nvSpPr>
        <p:spPr>
          <a:xfrm>
            <a:off x="4786313" y="1414463"/>
            <a:ext cx="3786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D9FF"/>
                </a:solidFill>
              </a:rPr>
              <a:t>🔄</a:t>
            </a:r>
            <a:endParaRPr lang="en-US" sz="1704" dirty="0"/>
          </a:p>
        </p:txBody>
      </p:sp>
      <p:sp>
        <p:nvSpPr>
          <p:cNvPr id="10" name="Text 7"/>
          <p:cNvSpPr/>
          <p:nvPr/>
        </p:nvSpPr>
        <p:spPr>
          <a:xfrm>
            <a:off x="4786313" y="1812727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A9EFF"/>
                </a:solidFill>
              </a:rPr>
              <a:t>إدارة الإعارة والإرجاع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786313" y="2078831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نظام متقدم لتتبع عمليات الإعارة والإرجاع مع إدارة المواعيد النهائية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872038" y="2368153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تسجيل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عمليات الإعارة الجديدة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4872038" y="2659261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تحديد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تاريخ الاستحقاق والإرجاع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4872038" y="2950369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تتبع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الكتب المستعارة الجارية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4872038" y="3241477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معالجة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عمليات الإرجاع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4872038" y="3532584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تنبيهات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للكتب المتأخرة</a:t>
            </a:r>
            <a:endParaRPr lang="en-US" sz="634" dirty="0"/>
          </a:p>
        </p:txBody>
      </p:sp>
      <p:sp>
        <p:nvSpPr>
          <p:cNvPr id="17" name="Shape 14"/>
          <p:cNvSpPr/>
          <p:nvPr/>
        </p:nvSpPr>
        <p:spPr>
          <a:xfrm>
            <a:off x="428625" y="1271588"/>
            <a:ext cx="4071938" cy="2587823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1271588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3852267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1271588"/>
            <a:ext cx="28575" cy="2587823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1414463"/>
            <a:ext cx="37861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0D9FF"/>
                </a:solidFill>
              </a:rPr>
              <a:t>📊</a:t>
            </a:r>
            <a:endParaRPr lang="en-US" sz="1704" dirty="0"/>
          </a:p>
        </p:txBody>
      </p:sp>
      <p:sp>
        <p:nvSpPr>
          <p:cNvPr id="22" name="Text 19"/>
          <p:cNvSpPr/>
          <p:nvPr/>
        </p:nvSpPr>
        <p:spPr>
          <a:xfrm>
            <a:off x="571500" y="1812727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A9EFF"/>
                </a:solidFill>
              </a:rPr>
              <a:t>لوحة التحكم الإحصائية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71500" y="2078831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عرض فوري لملخص العمليات والبيانات الإحصائية الهامة للمكتبة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657225" y="2368153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عدد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الكتب المتاحة والمستعارة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657225" y="2659261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إحصائيات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الأعضاء والنشاط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657225" y="2950369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رسوم بيانية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توضيحية للأنماط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657225" y="3241477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تقارير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سريعة وملخصات يومية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657225" y="3532584"/>
            <a:ext cx="35718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مؤشرات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8EDF2"/>
                </a:solidFill>
              </a:rPr>
              <a:t> الأداء الرئيسية</a:t>
            </a:r>
            <a:endParaRPr lang="en-US" sz="634" dirty="0"/>
          </a:p>
        </p:txBody>
      </p:sp>
      <p:sp>
        <p:nvSpPr>
          <p:cNvPr id="29" name="Shape 26"/>
          <p:cNvSpPr/>
          <p:nvPr/>
        </p:nvSpPr>
        <p:spPr>
          <a:xfrm>
            <a:off x="428625" y="3952280"/>
            <a:ext cx="8286750" cy="809030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41335" y="4116586"/>
            <a:ext cx="11444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A726"/>
                </a:solidFill>
              </a:rPr>
              <a:t>2</a:t>
            </a:r>
            <a:endParaRPr lang="en-US" sz="1397" dirty="0"/>
          </a:p>
        </p:txBody>
      </p:sp>
      <p:sp>
        <p:nvSpPr>
          <p:cNvPr id="31" name="Text 28"/>
          <p:cNvSpPr/>
          <p:nvPr/>
        </p:nvSpPr>
        <p:spPr>
          <a:xfrm>
            <a:off x="7007823" y="4446984"/>
            <a:ext cx="5814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8EDF2"/>
                </a:solidFill>
              </a:rPr>
              <a:t>ميزات متقدمة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4514794" y="4116586"/>
            <a:ext cx="11444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A726"/>
                </a:solidFill>
              </a:rPr>
              <a:t>7</a:t>
            </a:r>
            <a:endParaRPr lang="en-US" sz="1397" dirty="0"/>
          </a:p>
        </p:txBody>
      </p:sp>
      <p:sp>
        <p:nvSpPr>
          <p:cNvPr id="33" name="Text 30"/>
          <p:cNvSpPr/>
          <p:nvPr/>
        </p:nvSpPr>
        <p:spPr>
          <a:xfrm>
            <a:off x="4266130" y="4446984"/>
            <a:ext cx="6117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8EDF2"/>
                </a:solidFill>
              </a:rPr>
              <a:t>عمليات رئيسية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1720472" y="4116586"/>
            <a:ext cx="2500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A726"/>
                </a:solidFill>
              </a:rPr>
              <a:t>⚡</a:t>
            </a:r>
            <a:endParaRPr lang="en-US" sz="1397" dirty="0"/>
          </a:p>
        </p:txBody>
      </p:sp>
      <p:sp>
        <p:nvSpPr>
          <p:cNvPr id="35" name="Text 32"/>
          <p:cNvSpPr/>
          <p:nvPr/>
        </p:nvSpPr>
        <p:spPr>
          <a:xfrm>
            <a:off x="1656569" y="4446984"/>
            <a:ext cx="3778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8EDF2"/>
                </a:solidFill>
              </a:rPr>
              <a:t>أداء عالي</a:t>
            </a:r>
            <a:endParaRPr lang="en-US" sz="6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852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92919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A9EFF"/>
                </a:solidFill>
              </a:rPr>
              <a:t>بناء النظام على أساس تقنيات Microsoft و MySQL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62608"/>
            <a:ext cx="8286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المكونات التقنية والأدوات المستخدمة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4643438" y="1271588"/>
            <a:ext cx="4071938" cy="135552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643438" y="1271588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7" name="Shape 4"/>
          <p:cNvSpPr/>
          <p:nvPr/>
        </p:nvSpPr>
        <p:spPr>
          <a:xfrm>
            <a:off x="4643438" y="2619970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8" name="Shape 5"/>
          <p:cNvSpPr/>
          <p:nvPr/>
        </p:nvSpPr>
        <p:spPr>
          <a:xfrm>
            <a:off x="4643438" y="1271588"/>
            <a:ext cx="28575" cy="1355527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9" name="Text 6"/>
          <p:cNvSpPr/>
          <p:nvPr/>
        </p:nvSpPr>
        <p:spPr>
          <a:xfrm>
            <a:off x="4772025" y="1400175"/>
            <a:ext cx="38147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A726"/>
                </a:solidFill>
              </a:rPr>
              <a:t>لغة البرمجة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772025" y="1607344"/>
            <a:ext cx="38147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9EFF"/>
                </a:solidFill>
              </a:rPr>
              <a:t>C#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772025" y="1825228"/>
            <a:ext cx="3814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الإصدار: .NET Framework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4772025" y="1998464"/>
            <a:ext cx="38147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لغة برمجة قوية وموثوقة من Microsoft توفر إمكانيات عالية للبرمجة الكائنية التوجه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7708162" y="2209205"/>
            <a:ext cx="7786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برمجة موجهة للكائنات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7920689" y="2368153"/>
            <a:ext cx="56608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نوع آمن وموثوق</a:t>
            </a:r>
            <a:endParaRPr lang="en-US" sz="621" dirty="0"/>
          </a:p>
        </p:txBody>
      </p:sp>
      <p:sp>
        <p:nvSpPr>
          <p:cNvPr id="15" name="Shape 12"/>
          <p:cNvSpPr/>
          <p:nvPr/>
        </p:nvSpPr>
        <p:spPr>
          <a:xfrm>
            <a:off x="428625" y="1271588"/>
            <a:ext cx="4071938" cy="135552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1271588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2619970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1271588"/>
            <a:ext cx="28575" cy="1355527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9" name="Text 16"/>
          <p:cNvSpPr/>
          <p:nvPr/>
        </p:nvSpPr>
        <p:spPr>
          <a:xfrm>
            <a:off x="557213" y="1400175"/>
            <a:ext cx="38147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A726"/>
                </a:solidFill>
              </a:rPr>
              <a:t>بيئة التطوير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57213" y="1607344"/>
            <a:ext cx="38147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9EFF"/>
                </a:solidFill>
              </a:rPr>
              <a:t>Windows Forms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57213" y="1825228"/>
            <a:ext cx="3814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v4.7.2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557213" y="1998464"/>
            <a:ext cx="38147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إطار عمل لإنشاء تطبيقات سطح المكتب بواجهات رسومية احترافية وسهلة الاستخدام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3436200" y="2209205"/>
            <a:ext cx="835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واجهات رسومية متقدمة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3356753" y="2368153"/>
            <a:ext cx="9152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تطبيقات سطح مكتب قوية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4643438" y="2755702"/>
            <a:ext cx="4071938" cy="135552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4643438" y="2755702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27" name="Shape 24"/>
          <p:cNvSpPr/>
          <p:nvPr/>
        </p:nvSpPr>
        <p:spPr>
          <a:xfrm>
            <a:off x="4643438" y="4104084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643438" y="2755702"/>
            <a:ext cx="28575" cy="1355527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9" name="Text 26"/>
          <p:cNvSpPr/>
          <p:nvPr/>
        </p:nvSpPr>
        <p:spPr>
          <a:xfrm>
            <a:off x="4772025" y="2884289"/>
            <a:ext cx="38147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A726"/>
                </a:solidFill>
              </a:rPr>
              <a:t>قاعدة البيانات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4772025" y="3091458"/>
            <a:ext cx="38147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9EFF"/>
                </a:solidFill>
              </a:rPr>
              <a:t>MySQL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4772025" y="3309342"/>
            <a:ext cx="3814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v9.4.0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4772025" y="3482578"/>
            <a:ext cx="38147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نظام إدارة قواعد بيانات علائقية موثوق وقابل للتوسع مع أداء عالي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7829606" y="3693319"/>
            <a:ext cx="6571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تخزين آمن للبيانات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7624223" y="3852267"/>
            <a:ext cx="8625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استعلامات سريعة وفعالة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428625" y="2755702"/>
            <a:ext cx="4071938" cy="135552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28625" y="2755702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37" name="Shape 34"/>
          <p:cNvSpPr/>
          <p:nvPr/>
        </p:nvSpPr>
        <p:spPr>
          <a:xfrm>
            <a:off x="428625" y="4104084"/>
            <a:ext cx="4071938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38" name="Shape 35"/>
          <p:cNvSpPr/>
          <p:nvPr/>
        </p:nvSpPr>
        <p:spPr>
          <a:xfrm>
            <a:off x="428625" y="2755702"/>
            <a:ext cx="28575" cy="1355527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9" name="Text 36"/>
          <p:cNvSpPr/>
          <p:nvPr/>
        </p:nvSpPr>
        <p:spPr>
          <a:xfrm>
            <a:off x="557213" y="2884289"/>
            <a:ext cx="38147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A726"/>
                </a:solidFill>
              </a:rPr>
              <a:t>طبقة الوصول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557213" y="3091458"/>
            <a:ext cx="38147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9EFF"/>
                </a:solidFill>
              </a:rPr>
              <a:t>ADO.NET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557213" y="3309342"/>
            <a:ext cx="38147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DatabaseHelper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557213" y="3482578"/>
            <a:ext cx="38147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طبقة وصول بيانات تسهل الاتصال والعمليات على قاعدة البيانات بكفاءة عالية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3593362" y="3693319"/>
            <a:ext cx="6786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اتصال آمن بالقاعدة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3482048" y="3852267"/>
            <a:ext cx="7899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عمليات CRUD محسّنة</a:t>
            </a:r>
            <a:endParaRPr lang="en-US" sz="621" dirty="0"/>
          </a:p>
        </p:txBody>
      </p:sp>
      <p:sp>
        <p:nvSpPr>
          <p:cNvPr id="45" name="Shape 42"/>
          <p:cNvSpPr/>
          <p:nvPr/>
        </p:nvSpPr>
        <p:spPr>
          <a:xfrm>
            <a:off x="428625" y="4239816"/>
            <a:ext cx="8286750" cy="759721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24155" y="4418409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D9FF"/>
                </a:solidFill>
              </a:rPr>
              <a:t>🔧</a:t>
            </a:r>
            <a:endParaRPr lang="en-US" sz="1269" dirty="0"/>
          </a:p>
        </p:txBody>
      </p:sp>
      <p:sp>
        <p:nvSpPr>
          <p:cNvPr id="47" name="Text 44"/>
          <p:cNvSpPr/>
          <p:nvPr/>
        </p:nvSpPr>
        <p:spPr>
          <a:xfrm>
            <a:off x="7374610" y="4695230"/>
            <a:ext cx="51342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8EDF2"/>
                </a:solidFill>
              </a:rPr>
              <a:t>تقنيات متكاملة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5484614" y="4418409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D9FF"/>
                </a:solidFill>
              </a:rPr>
              <a:t>⚡</a:t>
            </a:r>
            <a:endParaRPr lang="en-US" sz="1269" dirty="0"/>
          </a:p>
        </p:txBody>
      </p:sp>
      <p:sp>
        <p:nvSpPr>
          <p:cNvPr id="49" name="Text 46"/>
          <p:cNvSpPr/>
          <p:nvPr/>
        </p:nvSpPr>
        <p:spPr>
          <a:xfrm>
            <a:off x="5429724" y="4695230"/>
            <a:ext cx="324120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8EDF2"/>
                </a:solidFill>
              </a:rPr>
              <a:t>أداء عالي</a:t>
            </a:r>
            <a:endParaRPr lang="en-US" sz="584" dirty="0"/>
          </a:p>
        </p:txBody>
      </p:sp>
      <p:sp>
        <p:nvSpPr>
          <p:cNvPr id="50" name="Text 47"/>
          <p:cNvSpPr/>
          <p:nvPr/>
        </p:nvSpPr>
        <p:spPr>
          <a:xfrm>
            <a:off x="3445073" y="4418409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D9FF"/>
                </a:solidFill>
              </a:rPr>
              <a:t>🔒</a:t>
            </a:r>
            <a:endParaRPr lang="en-US" sz="1269" dirty="0"/>
          </a:p>
        </p:txBody>
      </p:sp>
      <p:sp>
        <p:nvSpPr>
          <p:cNvPr id="51" name="Text 48"/>
          <p:cNvSpPr/>
          <p:nvPr/>
        </p:nvSpPr>
        <p:spPr>
          <a:xfrm>
            <a:off x="3349107" y="4695230"/>
            <a:ext cx="40627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8EDF2"/>
                </a:solidFill>
              </a:rPr>
              <a:t>أمان موثوق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1405533" y="4418409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D9FF"/>
                </a:solidFill>
              </a:rPr>
              <a:t>📈</a:t>
            </a:r>
            <a:endParaRPr lang="en-US" sz="1269" dirty="0"/>
          </a:p>
        </p:txBody>
      </p:sp>
      <p:sp>
        <p:nvSpPr>
          <p:cNvPr id="53" name="Text 50"/>
          <p:cNvSpPr/>
          <p:nvPr/>
        </p:nvSpPr>
        <p:spPr>
          <a:xfrm>
            <a:off x="1302423" y="4695230"/>
            <a:ext cx="420560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8EDF2"/>
                </a:solidFill>
              </a:rPr>
              <a:t>قابل للتوسع</a:t>
            </a:r>
            <a:endParaRPr lang="en-US" sz="5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92919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A9EFF"/>
                </a:solidFill>
              </a:rPr>
              <a:t>هيكل قاعدة بيانات مُنظم لدعم العمليات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62608"/>
            <a:ext cx="8286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تصميم الجداول والعلاقات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4661297" y="1235869"/>
            <a:ext cx="4054078" cy="2631579"/>
          </a:xfrm>
          <a:prstGeom prst="rect">
            <a:avLst/>
          </a:prstGeom>
          <a:solidFill>
            <a:srgbClr val="4A9EFF">
              <a:alpha val="5000"/>
            </a:srgbClr>
          </a:solidFill>
          <a:ln w="9144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57720" y="1440805"/>
            <a:ext cx="14612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A726"/>
                </a:solidFill>
              </a:rPr>
              <a:t>مخطط العلاقات بين الكيانات (ERD)</a:t>
            </a:r>
            <a:endParaRPr lang="en-US" sz="68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453" y="1662261"/>
            <a:ext cx="3839766" cy="20002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8625" y="1235869"/>
            <a:ext cx="4054078" cy="593601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1235869"/>
            <a:ext cx="405407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0" name="Shape 6"/>
          <p:cNvSpPr/>
          <p:nvPr/>
        </p:nvSpPr>
        <p:spPr>
          <a:xfrm>
            <a:off x="428625" y="1235869"/>
            <a:ext cx="21431" cy="59360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7"/>
          <p:cNvSpPr/>
          <p:nvPr/>
        </p:nvSpPr>
        <p:spPr>
          <a:xfrm>
            <a:off x="514350" y="1321594"/>
            <a:ext cx="38826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9EFF"/>
                </a:solidFill>
              </a:rPr>
              <a:t>📋 جدول Users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514350" y="1485900"/>
            <a:ext cx="388262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بيانات اعتماد المستخدمين (أمناء المكتبة)</a:t>
            </a:r>
            <a:endParaRPr lang="en-US" sz="621" dirty="0"/>
          </a:p>
        </p:txBody>
      </p:sp>
      <p:sp>
        <p:nvSpPr>
          <p:cNvPr id="13" name="Text 9"/>
          <p:cNvSpPr/>
          <p:nvPr/>
        </p:nvSpPr>
        <p:spPr>
          <a:xfrm>
            <a:off x="514350" y="1634468"/>
            <a:ext cx="3882628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00D9FF"/>
                </a:solidFill>
              </a:rPr>
              <a:t>PK: UserID | Username | Password</a:t>
            </a:r>
            <a:endParaRPr lang="en-US" sz="568" dirty="0"/>
          </a:p>
        </p:txBody>
      </p:sp>
      <p:sp>
        <p:nvSpPr>
          <p:cNvPr id="14" name="Shape 10"/>
          <p:cNvSpPr/>
          <p:nvPr/>
        </p:nvSpPr>
        <p:spPr>
          <a:xfrm>
            <a:off x="428625" y="1908051"/>
            <a:ext cx="4054078" cy="593601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28625" y="1908051"/>
            <a:ext cx="405407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28625" y="1908051"/>
            <a:ext cx="21431" cy="59360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3"/>
          <p:cNvSpPr/>
          <p:nvPr/>
        </p:nvSpPr>
        <p:spPr>
          <a:xfrm>
            <a:off x="514350" y="1993776"/>
            <a:ext cx="38826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9EFF"/>
                </a:solidFill>
              </a:rPr>
              <a:t>👥 جدول Members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514350" y="2158082"/>
            <a:ext cx="388262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معلومات أعضاء المكتبة الشخصية</a:t>
            </a:r>
            <a:endParaRPr lang="en-US" sz="621" dirty="0"/>
          </a:p>
        </p:txBody>
      </p:sp>
      <p:sp>
        <p:nvSpPr>
          <p:cNvPr id="19" name="Text 15"/>
          <p:cNvSpPr/>
          <p:nvPr/>
        </p:nvSpPr>
        <p:spPr>
          <a:xfrm>
            <a:off x="514350" y="2306650"/>
            <a:ext cx="3882628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00D9FF"/>
                </a:solidFill>
              </a:rPr>
              <a:t>PK: MemberID | Name | Email | Address</a:t>
            </a:r>
            <a:endParaRPr lang="en-US" sz="568" dirty="0"/>
          </a:p>
        </p:txBody>
      </p:sp>
      <p:sp>
        <p:nvSpPr>
          <p:cNvPr id="20" name="Shape 16"/>
          <p:cNvSpPr/>
          <p:nvPr/>
        </p:nvSpPr>
        <p:spPr>
          <a:xfrm>
            <a:off x="428625" y="2580233"/>
            <a:ext cx="4054078" cy="593601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428625" y="2580233"/>
            <a:ext cx="405407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2" name="Shape 18"/>
          <p:cNvSpPr/>
          <p:nvPr/>
        </p:nvSpPr>
        <p:spPr>
          <a:xfrm>
            <a:off x="428625" y="2580233"/>
            <a:ext cx="21431" cy="59360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3" name="Text 19"/>
          <p:cNvSpPr/>
          <p:nvPr/>
        </p:nvSpPr>
        <p:spPr>
          <a:xfrm>
            <a:off x="514350" y="2665958"/>
            <a:ext cx="38826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9EFF"/>
                </a:solidFill>
              </a:rPr>
              <a:t>📚 جدول Books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514350" y="2830264"/>
            <a:ext cx="388262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معلومات الكتب والمخزون</a:t>
            </a:r>
            <a:endParaRPr lang="en-US" sz="621" dirty="0"/>
          </a:p>
        </p:txBody>
      </p:sp>
      <p:sp>
        <p:nvSpPr>
          <p:cNvPr id="25" name="Text 21"/>
          <p:cNvSpPr/>
          <p:nvPr/>
        </p:nvSpPr>
        <p:spPr>
          <a:xfrm>
            <a:off x="514350" y="2978832"/>
            <a:ext cx="3882628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00D9FF"/>
                </a:solidFill>
              </a:rPr>
              <a:t>PK: BookID | Title | Author | ISBN | Quantity</a:t>
            </a:r>
            <a:endParaRPr lang="en-US" sz="568" dirty="0"/>
          </a:p>
        </p:txBody>
      </p:sp>
      <p:sp>
        <p:nvSpPr>
          <p:cNvPr id="26" name="Shape 22"/>
          <p:cNvSpPr/>
          <p:nvPr/>
        </p:nvSpPr>
        <p:spPr>
          <a:xfrm>
            <a:off x="428625" y="3252415"/>
            <a:ext cx="4054078" cy="593601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428625" y="3252415"/>
            <a:ext cx="4054078" cy="7144"/>
          </a:xfrm>
          <a:prstGeom prst="rect">
            <a:avLst/>
          </a:prstGeom>
          <a:solidFill>
            <a:srgbClr val="D9F9FF"/>
          </a:solidFill>
          <a:ln/>
        </p:spPr>
      </p:sp>
      <p:sp>
        <p:nvSpPr>
          <p:cNvPr id="28" name="Shape 24"/>
          <p:cNvSpPr/>
          <p:nvPr/>
        </p:nvSpPr>
        <p:spPr>
          <a:xfrm>
            <a:off x="428625" y="3252415"/>
            <a:ext cx="21431" cy="59360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9" name="Text 25"/>
          <p:cNvSpPr/>
          <p:nvPr/>
        </p:nvSpPr>
        <p:spPr>
          <a:xfrm>
            <a:off x="514350" y="3338140"/>
            <a:ext cx="38826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9EFF"/>
                </a:solidFill>
              </a:rPr>
              <a:t>🔄 جدول Borrowings</a:t>
            </a:r>
            <a:endParaRPr lang="en-US" sz="683" dirty="0"/>
          </a:p>
        </p:txBody>
      </p:sp>
      <p:sp>
        <p:nvSpPr>
          <p:cNvPr id="30" name="Text 26"/>
          <p:cNvSpPr/>
          <p:nvPr/>
        </p:nvSpPr>
        <p:spPr>
          <a:xfrm>
            <a:off x="514350" y="3502447"/>
            <a:ext cx="388262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سجل عمليات الإعارة والإرجاع</a:t>
            </a:r>
            <a:endParaRPr lang="en-US" sz="621" dirty="0"/>
          </a:p>
        </p:txBody>
      </p:sp>
      <p:sp>
        <p:nvSpPr>
          <p:cNvPr id="31" name="Text 27"/>
          <p:cNvSpPr/>
          <p:nvPr/>
        </p:nvSpPr>
        <p:spPr>
          <a:xfrm>
            <a:off x="514350" y="3651014"/>
            <a:ext cx="3882628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00D9FF"/>
                </a:solidFill>
              </a:rPr>
              <a:t>PK: BorrowID | FK: BookID | FK: MemberID</a:t>
            </a:r>
            <a:endParaRPr lang="en-US" sz="568" dirty="0"/>
          </a:p>
        </p:txBody>
      </p:sp>
      <p:sp>
        <p:nvSpPr>
          <p:cNvPr id="32" name="Shape 28"/>
          <p:cNvSpPr/>
          <p:nvPr/>
        </p:nvSpPr>
        <p:spPr>
          <a:xfrm>
            <a:off x="428625" y="3946029"/>
            <a:ext cx="8286750" cy="557213"/>
          </a:xfrm>
          <a:prstGeom prst="rect">
            <a:avLst/>
          </a:prstGeom>
          <a:solidFill>
            <a:srgbClr val="00D9FF">
              <a:alpha val="5000"/>
            </a:srgbClr>
          </a:solidFill>
          <a:ln w="9144">
            <a:solidFill>
              <a:srgbClr val="00D9FF">
                <a:alpha val="2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686300" y="4053185"/>
            <a:ext cx="37933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Members ← Borrowings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: One-to-Many</a:t>
            </a:r>
            <a:endParaRPr lang="en-US" sz="584" dirty="0"/>
          </a:p>
        </p:txBody>
      </p:sp>
      <p:sp>
        <p:nvSpPr>
          <p:cNvPr id="34" name="Text 30"/>
          <p:cNvSpPr/>
          <p:nvPr/>
        </p:nvSpPr>
        <p:spPr>
          <a:xfrm>
            <a:off x="607219" y="4053185"/>
            <a:ext cx="37933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Books ← Borrowings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: One-to-Many</a:t>
            </a:r>
            <a:endParaRPr lang="en-US" sz="584" dirty="0"/>
          </a:p>
        </p:txBody>
      </p:sp>
      <p:sp>
        <p:nvSpPr>
          <p:cNvPr id="35" name="Text 31"/>
          <p:cNvSpPr/>
          <p:nvPr/>
        </p:nvSpPr>
        <p:spPr>
          <a:xfrm>
            <a:off x="4686300" y="4265712"/>
            <a:ext cx="37933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Primary Keys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: معرفات فريدة</a:t>
            </a:r>
            <a:endParaRPr lang="en-US" sz="584" dirty="0"/>
          </a:p>
        </p:txBody>
      </p:sp>
      <p:sp>
        <p:nvSpPr>
          <p:cNvPr id="36" name="Text 32"/>
          <p:cNvSpPr/>
          <p:nvPr/>
        </p:nvSpPr>
        <p:spPr>
          <a:xfrm>
            <a:off x="607219" y="4265712"/>
            <a:ext cx="37933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D9FF"/>
                </a:solidFill>
              </a:rPr>
              <a:t>Foreign Keys</a:t>
            </a:r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8EDF2"/>
                </a:solidFill>
              </a:rPr>
              <a:t>: ربط الجداول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92919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4A9EFF"/>
                </a:solidFill>
              </a:rPr>
              <a:t>خطة العمل والإنجازات الرئيسية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62608"/>
            <a:ext cx="8286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الجدول الزمني للمشروع على مدى 4 أسابيع</a:t>
            </a:r>
            <a:endParaRPr lang="en-US" sz="98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3" y="1235869"/>
            <a:ext cx="3000375" cy="20002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707981" y="3378994"/>
            <a:ext cx="2007394" cy="780399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707981" y="3378994"/>
            <a:ext cx="2007394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8" name="Shape 4"/>
          <p:cNvSpPr/>
          <p:nvPr/>
        </p:nvSpPr>
        <p:spPr>
          <a:xfrm>
            <a:off x="6707981" y="3378994"/>
            <a:ext cx="21431" cy="780399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9" name="Text 5"/>
          <p:cNvSpPr/>
          <p:nvPr/>
        </p:nvSpPr>
        <p:spPr>
          <a:xfrm>
            <a:off x="6793706" y="3464719"/>
            <a:ext cx="18359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A726"/>
                </a:solidFill>
              </a:rPr>
              <a:t>الأسبوع 1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6793706" y="3662958"/>
            <a:ext cx="1835944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المقترح والإعداد</a:t>
            </a:r>
            <a:endParaRPr lang="en-US" sz="634" dirty="0"/>
          </a:p>
        </p:txBody>
      </p:sp>
      <p:sp>
        <p:nvSpPr>
          <p:cNvPr id="11" name="Text 7"/>
          <p:cNvSpPr/>
          <p:nvPr/>
        </p:nvSpPr>
        <p:spPr>
          <a:xfrm>
            <a:off x="6793706" y="3826539"/>
            <a:ext cx="183594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تقديم المقترح + إنشاء مستودع GitHub + إعداد بيئة التطوير</a:t>
            </a:r>
            <a:endParaRPr lang="en-US" sz="621" dirty="0"/>
          </a:p>
        </p:txBody>
      </p:sp>
      <p:sp>
        <p:nvSpPr>
          <p:cNvPr id="12" name="Shape 8"/>
          <p:cNvSpPr/>
          <p:nvPr/>
        </p:nvSpPr>
        <p:spPr>
          <a:xfrm>
            <a:off x="4614863" y="3378994"/>
            <a:ext cx="2007394" cy="780399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614863" y="3378994"/>
            <a:ext cx="2007394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14" name="Shape 10"/>
          <p:cNvSpPr/>
          <p:nvPr/>
        </p:nvSpPr>
        <p:spPr>
          <a:xfrm>
            <a:off x="4614863" y="3378994"/>
            <a:ext cx="21431" cy="780399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5" name="Text 11"/>
          <p:cNvSpPr/>
          <p:nvPr/>
        </p:nvSpPr>
        <p:spPr>
          <a:xfrm>
            <a:off x="4700588" y="3464719"/>
            <a:ext cx="18359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A726"/>
                </a:solidFill>
              </a:rPr>
              <a:t>الأسبوع 2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4700588" y="3662958"/>
            <a:ext cx="1835944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النماذج وقاعدة البيانات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4700588" y="3826539"/>
            <a:ext cx="183594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إنشاء النماذج الأساسية + دمج قاعدة البيانات + الاتصال والجداول</a:t>
            </a:r>
            <a:endParaRPr lang="en-US" sz="621" dirty="0"/>
          </a:p>
        </p:txBody>
      </p:sp>
      <p:sp>
        <p:nvSpPr>
          <p:cNvPr id="18" name="Shape 14"/>
          <p:cNvSpPr/>
          <p:nvPr/>
        </p:nvSpPr>
        <p:spPr>
          <a:xfrm>
            <a:off x="2521744" y="3378994"/>
            <a:ext cx="2007394" cy="780399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2521744" y="3378994"/>
            <a:ext cx="2007394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20" name="Shape 16"/>
          <p:cNvSpPr/>
          <p:nvPr/>
        </p:nvSpPr>
        <p:spPr>
          <a:xfrm>
            <a:off x="2521744" y="3378994"/>
            <a:ext cx="21431" cy="780399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1" name="Text 17"/>
          <p:cNvSpPr/>
          <p:nvPr/>
        </p:nvSpPr>
        <p:spPr>
          <a:xfrm>
            <a:off x="2607469" y="3464719"/>
            <a:ext cx="18359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A726"/>
                </a:solidFill>
              </a:rPr>
              <a:t>الأسبوع 3</a:t>
            </a:r>
            <a:endParaRPr lang="en-US" sz="784" dirty="0"/>
          </a:p>
        </p:txBody>
      </p:sp>
      <p:sp>
        <p:nvSpPr>
          <p:cNvPr id="22" name="Text 18"/>
          <p:cNvSpPr/>
          <p:nvPr/>
        </p:nvSpPr>
        <p:spPr>
          <a:xfrm>
            <a:off x="2607469" y="3662958"/>
            <a:ext cx="1835944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المنطق الأساسي</a:t>
            </a:r>
            <a:endParaRPr lang="en-US" sz="634" dirty="0"/>
          </a:p>
        </p:txBody>
      </p:sp>
      <p:sp>
        <p:nvSpPr>
          <p:cNvPr id="23" name="Text 19"/>
          <p:cNvSpPr/>
          <p:nvPr/>
        </p:nvSpPr>
        <p:spPr>
          <a:xfrm>
            <a:off x="2607469" y="3826539"/>
            <a:ext cx="183594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تطبيق العمليات الأساسية (CRUD) + منطق الإعارة والإرجاع</a:t>
            </a:r>
            <a:endParaRPr lang="en-US" sz="621" dirty="0"/>
          </a:p>
        </p:txBody>
      </p:sp>
      <p:sp>
        <p:nvSpPr>
          <p:cNvPr id="24" name="Shape 20"/>
          <p:cNvSpPr/>
          <p:nvPr/>
        </p:nvSpPr>
        <p:spPr>
          <a:xfrm>
            <a:off x="428625" y="3378994"/>
            <a:ext cx="2007394" cy="780399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428625" y="3378994"/>
            <a:ext cx="2007394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26" name="Shape 22"/>
          <p:cNvSpPr/>
          <p:nvPr/>
        </p:nvSpPr>
        <p:spPr>
          <a:xfrm>
            <a:off x="428625" y="3378994"/>
            <a:ext cx="21431" cy="780399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7" name="Text 23"/>
          <p:cNvSpPr/>
          <p:nvPr/>
        </p:nvSpPr>
        <p:spPr>
          <a:xfrm>
            <a:off x="514350" y="3464719"/>
            <a:ext cx="18359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A726"/>
                </a:solidFill>
              </a:rPr>
              <a:t>الأسبوع 4</a:t>
            </a:r>
            <a:endParaRPr lang="en-US" sz="784" dirty="0"/>
          </a:p>
        </p:txBody>
      </p:sp>
      <p:sp>
        <p:nvSpPr>
          <p:cNvPr id="28" name="Text 24"/>
          <p:cNvSpPr/>
          <p:nvPr/>
        </p:nvSpPr>
        <p:spPr>
          <a:xfrm>
            <a:off x="514350" y="3662958"/>
            <a:ext cx="1835944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0D9FF"/>
                </a:solidFill>
              </a:rPr>
              <a:t>الاختبار والتقرير</a:t>
            </a:r>
            <a:endParaRPr lang="en-US" sz="634" dirty="0"/>
          </a:p>
        </p:txBody>
      </p:sp>
      <p:sp>
        <p:nvSpPr>
          <p:cNvPr id="29" name="Text 25"/>
          <p:cNvSpPr/>
          <p:nvPr/>
        </p:nvSpPr>
        <p:spPr>
          <a:xfrm>
            <a:off x="514350" y="3826539"/>
            <a:ext cx="183594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تحسين الواجهة + الاختبار النهائي + إعداد التقرير والعرض</a:t>
            </a:r>
            <a:endParaRPr lang="en-US" sz="62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49615" y="463311"/>
            <a:ext cx="3244769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4A9EFF"/>
                </a:solidFill>
              </a:rPr>
              <a:t>شكراً لحسن استماعكم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3937183" y="960500"/>
            <a:ext cx="12696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نظام إدارة المكتبة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629150" y="1580220"/>
            <a:ext cx="1565235" cy="877230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629150" y="1580220"/>
            <a:ext cx="1565235" cy="14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7" name="Shape 4"/>
          <p:cNvSpPr/>
          <p:nvPr/>
        </p:nvSpPr>
        <p:spPr>
          <a:xfrm>
            <a:off x="6187241" y="1580220"/>
            <a:ext cx="7144" cy="877230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8" name="Shape 5"/>
          <p:cNvSpPr/>
          <p:nvPr/>
        </p:nvSpPr>
        <p:spPr>
          <a:xfrm>
            <a:off x="4629150" y="2450306"/>
            <a:ext cx="1565235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9" name="Shape 6"/>
          <p:cNvSpPr/>
          <p:nvPr/>
        </p:nvSpPr>
        <p:spPr>
          <a:xfrm>
            <a:off x="4629150" y="1580220"/>
            <a:ext cx="7144" cy="877230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10" name="Text 7"/>
          <p:cNvSpPr/>
          <p:nvPr/>
        </p:nvSpPr>
        <p:spPr>
          <a:xfrm>
            <a:off x="5343469" y="1688269"/>
            <a:ext cx="13662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0D9FF"/>
                </a:solidFill>
              </a:rPr>
              <a:t>✓</a:t>
            </a:r>
            <a:endParaRPr lang="en-US" sz="1486" dirty="0"/>
          </a:p>
        </p:txBody>
      </p:sp>
      <p:sp>
        <p:nvSpPr>
          <p:cNvPr id="11" name="Text 8"/>
          <p:cNvSpPr/>
          <p:nvPr/>
        </p:nvSpPr>
        <p:spPr>
          <a:xfrm>
            <a:off x="5130831" y="2034741"/>
            <a:ext cx="5618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A726"/>
                </a:solidFill>
              </a:rPr>
              <a:t>نظام متكامل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4754194" y="2224050"/>
            <a:ext cx="131517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حل شامل لإدارة جميع عمليات المكتبة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2949615" y="1588257"/>
            <a:ext cx="1565235" cy="86115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949615" y="1588257"/>
            <a:ext cx="1565235" cy="14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507706" y="1588257"/>
            <a:ext cx="7144" cy="861157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949615" y="2442270"/>
            <a:ext cx="1565235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17" name="Shape 14"/>
          <p:cNvSpPr/>
          <p:nvPr/>
        </p:nvSpPr>
        <p:spPr>
          <a:xfrm>
            <a:off x="2949615" y="1588257"/>
            <a:ext cx="7144" cy="861157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18" name="Text 15"/>
          <p:cNvSpPr/>
          <p:nvPr/>
        </p:nvSpPr>
        <p:spPr>
          <a:xfrm>
            <a:off x="3607231" y="1690948"/>
            <a:ext cx="2500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0D9FF"/>
                </a:solidFill>
              </a:rPr>
              <a:t>⚡</a:t>
            </a:r>
            <a:endParaRPr lang="en-US" sz="1486" dirty="0"/>
          </a:p>
        </p:txBody>
      </p:sp>
      <p:sp>
        <p:nvSpPr>
          <p:cNvPr id="19" name="Text 16"/>
          <p:cNvSpPr/>
          <p:nvPr/>
        </p:nvSpPr>
        <p:spPr>
          <a:xfrm>
            <a:off x="3529878" y="2021346"/>
            <a:ext cx="40471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A726"/>
                </a:solidFill>
              </a:rPr>
              <a:t>أداء عالي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3197833" y="2210656"/>
            <a:ext cx="10688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معالجة سريعة وفعالة للعمليات</a:t>
            </a:r>
            <a:endParaRPr lang="en-US" sz="621" dirty="0"/>
          </a:p>
        </p:txBody>
      </p:sp>
      <p:sp>
        <p:nvSpPr>
          <p:cNvPr id="21" name="Shape 18"/>
          <p:cNvSpPr/>
          <p:nvPr/>
        </p:nvSpPr>
        <p:spPr>
          <a:xfrm>
            <a:off x="4629150" y="2561034"/>
            <a:ext cx="1565235" cy="86115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629150" y="2561034"/>
            <a:ext cx="1565235" cy="14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3" name="Shape 20"/>
          <p:cNvSpPr/>
          <p:nvPr/>
        </p:nvSpPr>
        <p:spPr>
          <a:xfrm>
            <a:off x="6187241" y="2561034"/>
            <a:ext cx="7144" cy="861157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24" name="Shape 21"/>
          <p:cNvSpPr/>
          <p:nvPr/>
        </p:nvSpPr>
        <p:spPr>
          <a:xfrm>
            <a:off x="4629150" y="3415047"/>
            <a:ext cx="1565235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629150" y="2561034"/>
            <a:ext cx="7144" cy="861157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26" name="Text 23"/>
          <p:cNvSpPr/>
          <p:nvPr/>
        </p:nvSpPr>
        <p:spPr>
          <a:xfrm>
            <a:off x="5286766" y="2661047"/>
            <a:ext cx="2500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0D9FF"/>
                </a:solidFill>
              </a:rPr>
              <a:t>🔒</a:t>
            </a:r>
            <a:endParaRPr lang="en-US" sz="1486" dirty="0"/>
          </a:p>
        </p:txBody>
      </p:sp>
      <p:sp>
        <p:nvSpPr>
          <p:cNvPr id="27" name="Text 24"/>
          <p:cNvSpPr/>
          <p:nvPr/>
        </p:nvSpPr>
        <p:spPr>
          <a:xfrm>
            <a:off x="5157620" y="2991445"/>
            <a:ext cx="5082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A726"/>
                </a:solidFill>
              </a:rPr>
              <a:t>أمان موثوق</a:t>
            </a:r>
            <a:endParaRPr lang="en-US" sz="734" dirty="0"/>
          </a:p>
        </p:txBody>
      </p:sp>
      <p:sp>
        <p:nvSpPr>
          <p:cNvPr id="28" name="Text 25"/>
          <p:cNvSpPr/>
          <p:nvPr/>
        </p:nvSpPr>
        <p:spPr>
          <a:xfrm>
            <a:off x="4871117" y="3180755"/>
            <a:ext cx="108130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حماية البيانات والمصادقة الآمنة</a:t>
            </a:r>
            <a:endParaRPr lang="en-US" sz="621" dirty="0"/>
          </a:p>
        </p:txBody>
      </p:sp>
      <p:sp>
        <p:nvSpPr>
          <p:cNvPr id="29" name="Shape 26"/>
          <p:cNvSpPr/>
          <p:nvPr/>
        </p:nvSpPr>
        <p:spPr>
          <a:xfrm>
            <a:off x="2949615" y="2561034"/>
            <a:ext cx="1565235" cy="86115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949615" y="2561034"/>
            <a:ext cx="1565235" cy="14288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1" name="Shape 28"/>
          <p:cNvSpPr/>
          <p:nvPr/>
        </p:nvSpPr>
        <p:spPr>
          <a:xfrm>
            <a:off x="4507706" y="2561034"/>
            <a:ext cx="7144" cy="861157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32" name="Shape 29"/>
          <p:cNvSpPr/>
          <p:nvPr/>
        </p:nvSpPr>
        <p:spPr>
          <a:xfrm>
            <a:off x="2949615" y="3415047"/>
            <a:ext cx="1565235" cy="7144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33" name="Shape 30"/>
          <p:cNvSpPr/>
          <p:nvPr/>
        </p:nvSpPr>
        <p:spPr>
          <a:xfrm>
            <a:off x="2949615" y="2561034"/>
            <a:ext cx="7144" cy="861157"/>
          </a:xfrm>
          <a:prstGeom prst="rect">
            <a:avLst/>
          </a:prstGeom>
          <a:solidFill>
            <a:srgbClr val="CCF7FF"/>
          </a:solidFill>
          <a:ln/>
        </p:spPr>
      </p:sp>
      <p:sp>
        <p:nvSpPr>
          <p:cNvPr id="34" name="Text 31"/>
          <p:cNvSpPr/>
          <p:nvPr/>
        </p:nvSpPr>
        <p:spPr>
          <a:xfrm>
            <a:off x="3607231" y="2671763"/>
            <a:ext cx="2500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0D9FF"/>
                </a:solidFill>
              </a:rPr>
              <a:t>📊</a:t>
            </a:r>
            <a:endParaRPr lang="en-US" sz="1486" dirty="0"/>
          </a:p>
        </p:txBody>
      </p:sp>
      <p:sp>
        <p:nvSpPr>
          <p:cNvPr id="35" name="Text 32"/>
          <p:cNvSpPr/>
          <p:nvPr/>
        </p:nvSpPr>
        <p:spPr>
          <a:xfrm>
            <a:off x="3487015" y="3002161"/>
            <a:ext cx="49043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A726"/>
                </a:solidFill>
              </a:rPr>
              <a:t>رؤية شاملة</a:t>
            </a:r>
            <a:endParaRPr lang="en-US" sz="734" dirty="0"/>
          </a:p>
        </p:txBody>
      </p:sp>
      <p:sp>
        <p:nvSpPr>
          <p:cNvPr id="36" name="Text 33"/>
          <p:cNvSpPr/>
          <p:nvPr/>
        </p:nvSpPr>
        <p:spPr>
          <a:xfrm>
            <a:off x="3214799" y="3191470"/>
            <a:ext cx="103486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B0B8C1"/>
                </a:solidFill>
              </a:rPr>
              <a:t>إحصائيات فورية وتقارير دقيقة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2949615" y="3875819"/>
            <a:ext cx="3244769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4A9EFF"/>
                </a:solidFill>
              </a:rPr>
              <a:t>هل لديكم أسئلة؟</a:t>
            </a:r>
            <a:endParaRPr lang="en-US" sz="1295" dirty="0"/>
          </a:p>
        </p:txBody>
      </p:sp>
      <p:sp>
        <p:nvSpPr>
          <p:cNvPr id="38" name="Text 35"/>
          <p:cNvSpPr/>
          <p:nvPr/>
        </p:nvSpPr>
        <p:spPr>
          <a:xfrm>
            <a:off x="2949615" y="4213361"/>
            <a:ext cx="32447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نحن هنا للإجابة على استفساراتكم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2949615" y="4454463"/>
            <a:ext cx="32447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A726"/>
                </a:solidFill>
              </a:rPr>
              <a:t>البريد الإلكتروني:</a:t>
            </a:r>
            <a:pPr algn="ct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project@library.edu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2949615" y="4645893"/>
            <a:ext cx="324476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A726"/>
                </a:solidFill>
              </a:rPr>
              <a:t>الموقع:</a:t>
            </a:r>
            <a:pPr algn="ct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B0B8C1"/>
                </a:solidFill>
              </a:rPr>
              <a:t>github.com/library-system</a:t>
            </a:r>
            <a:endParaRPr lang="en-US" sz="6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2025-11-08T20:18:52Z</dcterms:created>
  <dcterms:modified xsi:type="dcterms:W3CDTF">2025-11-08T20:18:52Z</dcterms:modified>
</cp:coreProperties>
</file>